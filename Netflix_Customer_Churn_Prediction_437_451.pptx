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Anantason Bold" panose="020B0604020202020204" charset="-34"/>
      <p:regular r:id="rId13"/>
    </p:embeddedFont>
    <p:embeddedFont>
      <p:font typeface="Canva Sans" panose="020B0604020202020204" charset="0"/>
      <p:regular r:id="rId14"/>
    </p:embeddedFont>
    <p:embeddedFont>
      <p:font typeface="Canva Sans Bold" panose="020B0604020202020204" charset="0"/>
      <p:regular r:id="rId15"/>
    </p:embeddedFont>
    <p:embeddedFont>
      <p:font typeface="Cloud" panose="020B0604020202020204" charset="0"/>
      <p:regular r:id="rId16"/>
    </p:embeddedFont>
    <p:embeddedFont>
      <p:font typeface="Cloud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24614" y="6515100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1924574" y="-357188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002168">
            <a:off x="-1222246" y="-3356253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7488824">
            <a:off x="-221065" y="7727724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-1553301" y="1910343"/>
            <a:ext cx="20976071" cy="1052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71"/>
              </a:lnSpc>
            </a:pPr>
            <a:r>
              <a:rPr lang="en-US" sz="6193" b="1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NETFLIX CUSTOMER CHURN PREDICTION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899688" y="3455087"/>
            <a:ext cx="10034944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C35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UE23CS352A Machine Learning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48307" y="5554088"/>
            <a:ext cx="4365308" cy="695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</a:pPr>
            <a:r>
              <a:rPr lang="en-US" sz="4099" b="1">
                <a:solidFill>
                  <a:srgbClr val="0C35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 MEMBERS: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008138" y="6667878"/>
            <a:ext cx="8825746" cy="1251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1">
                <a:solidFill>
                  <a:srgbClr val="0C35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PES2UG23CS437-Prashant Radder</a:t>
            </a:r>
          </a:p>
          <a:p>
            <a:pPr algn="l">
              <a:lnSpc>
                <a:spcPts val="5040"/>
              </a:lnSpc>
            </a:pPr>
            <a:r>
              <a:rPr lang="en-US" sz="3600" b="1">
                <a:solidFill>
                  <a:srgbClr val="0C35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PES2UG23CS451-Priyanka Shankar Naik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24614" y="6515100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1924574" y="-357188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002168">
            <a:off x="-1222246" y="-3356253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925341" y="1428469"/>
            <a:ext cx="10009291" cy="1210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47"/>
              </a:lnSpc>
            </a:pPr>
            <a:r>
              <a:rPr lang="en-US" sz="7105" b="1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INTRODUCTION</a:t>
            </a:r>
          </a:p>
        </p:txBody>
      </p:sp>
      <p:sp>
        <p:nvSpPr>
          <p:cNvPr id="6" name="Freeform 6"/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771366" y="3452163"/>
            <a:ext cx="14958478" cy="446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39"/>
              </a:lnSpc>
            </a:pPr>
            <a:r>
              <a:rPr lang="en-US" sz="35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•Customer churn prediction helps streaming platforms like Netflix identify users likely to unsubscribe, allowing the company to take preventive actions to retain them.</a:t>
            </a:r>
          </a:p>
          <a:p>
            <a:pPr algn="just">
              <a:lnSpc>
                <a:spcPts val="5039"/>
              </a:lnSpc>
            </a:pPr>
            <a:r>
              <a:rPr lang="en-US" sz="35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•In this project, we use three machine learning algorithms — Logistic Regression, Random Forest, and Gradient Boosting — to predict whether a Netflix user will churn based on their behavior and subscription data.</a:t>
            </a:r>
          </a:p>
          <a:p>
            <a:pPr algn="just">
              <a:lnSpc>
                <a:spcPts val="5039"/>
              </a:lnSpc>
            </a:pPr>
            <a:endParaRPr lang="en-US" sz="3599">
              <a:solidFill>
                <a:srgbClr val="0C3571"/>
              </a:solidFill>
              <a:latin typeface="Cloud"/>
              <a:ea typeface="Cloud"/>
              <a:cs typeface="Cloud"/>
              <a:sym typeface="Cloud"/>
            </a:endParaRPr>
          </a:p>
        </p:txBody>
      </p:sp>
      <p:sp>
        <p:nvSpPr>
          <p:cNvPr id="8" name="Freeform 8"/>
          <p:cNvSpPr/>
          <p:nvPr/>
        </p:nvSpPr>
        <p:spPr>
          <a:xfrm rot="7488824">
            <a:off x="-221065" y="7727724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24614" y="6515100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1924574" y="-357188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002168">
            <a:off x="-1222246" y="-3356253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7488824">
            <a:off x="-221065" y="7727724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698823" y="2042729"/>
            <a:ext cx="10890353" cy="1252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27"/>
              </a:lnSpc>
            </a:pPr>
            <a:r>
              <a:rPr lang="en-US" sz="7305" b="1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DATASET OVERVIEW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21084" y="3931350"/>
            <a:ext cx="14409202" cy="5099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1844" lvl="1" indent="-390922" algn="l">
              <a:lnSpc>
                <a:spcPts val="5069"/>
              </a:lnSpc>
              <a:buFont typeface="Arial"/>
              <a:buChar char="•"/>
            </a:pPr>
            <a:r>
              <a:rPr lang="en-US" sz="3621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Dataset: netflix_customer_churn.csv</a:t>
            </a:r>
          </a:p>
          <a:p>
            <a:pPr marL="781844" lvl="1" indent="-390922" algn="l">
              <a:lnSpc>
                <a:spcPts val="5069"/>
              </a:lnSpc>
              <a:buFont typeface="Arial"/>
              <a:buChar char="•"/>
            </a:pPr>
            <a:r>
              <a:rPr lang="en-US" sz="3621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The dataset includes customer attributes such as age, gender, region, subscription type, monthly fee, watch hours, login frequency, and churn status.</a:t>
            </a:r>
          </a:p>
          <a:p>
            <a:pPr marL="781844" lvl="1" indent="-390922" algn="l">
              <a:lnSpc>
                <a:spcPts val="5069"/>
              </a:lnSpc>
              <a:buFont typeface="Arial"/>
              <a:buChar char="•"/>
            </a:pPr>
            <a:r>
              <a:rPr lang="en-US" sz="3621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Target Variable: churned (1 = unsubscribed, 0 = retained)</a:t>
            </a:r>
          </a:p>
          <a:p>
            <a:pPr marL="781844" lvl="1" indent="-390922" algn="l">
              <a:lnSpc>
                <a:spcPts val="5069"/>
              </a:lnSpc>
              <a:buFont typeface="Arial"/>
              <a:buChar char="•"/>
            </a:pPr>
            <a:r>
              <a:rPr lang="en-US" sz="3621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Total Records: 5000 rows | Features: 14 key attributes (numerical &amp; categorical)</a:t>
            </a:r>
          </a:p>
          <a:p>
            <a:pPr algn="l">
              <a:lnSpc>
                <a:spcPts val="5069"/>
              </a:lnSpc>
            </a:pPr>
            <a:endParaRPr lang="en-US" sz="3621">
              <a:solidFill>
                <a:srgbClr val="0C3571"/>
              </a:solidFill>
              <a:latin typeface="Cloud"/>
              <a:ea typeface="Cloud"/>
              <a:cs typeface="Cloud"/>
              <a:sym typeface="Clou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24614" y="6515100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1924574" y="-357188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002168">
            <a:off x="-1222246" y="-3356253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7488824">
            <a:off x="-221065" y="7727724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395709" y="1253690"/>
            <a:ext cx="10009291" cy="1292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47"/>
              </a:lnSpc>
            </a:pPr>
            <a:r>
              <a:rPr lang="en-US" sz="7605" b="1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METHODOLOGY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14450" y="3229997"/>
            <a:ext cx="15991868" cy="7399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3539" lvl="1" indent="-376770" algn="l">
              <a:lnSpc>
                <a:spcPts val="4886"/>
              </a:lnSpc>
              <a:buAutoNum type="arabicPeriod"/>
            </a:pPr>
            <a:r>
              <a:rPr lang="en-US" sz="349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Data Cleaning – Handled missing values, removed duplicates, and dropped irrelevant or redundant features to ensure data quality.</a:t>
            </a:r>
          </a:p>
          <a:p>
            <a:pPr marL="753539" lvl="1" indent="-376770" algn="l">
              <a:lnSpc>
                <a:spcPts val="4886"/>
              </a:lnSpc>
              <a:buAutoNum type="arabicPeriod"/>
            </a:pPr>
            <a:r>
              <a:rPr lang="en-US" sz="349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Data Encoding – Converted categorical columns (like gender, region, subscription type) into numerical form using Label Encoding for model compatibility.</a:t>
            </a:r>
          </a:p>
          <a:p>
            <a:pPr marL="753539" lvl="1" indent="-376770" algn="l">
              <a:lnSpc>
                <a:spcPts val="4886"/>
              </a:lnSpc>
              <a:buAutoNum type="arabicPeriod"/>
            </a:pPr>
            <a:r>
              <a:rPr lang="en-US" sz="349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Feature Scaling – Standardized numerical features using StandardScaler to bring all variables to a similar range, improving model performance.</a:t>
            </a:r>
          </a:p>
          <a:p>
            <a:pPr marL="753539" lvl="1" indent="-376770" algn="l">
              <a:lnSpc>
                <a:spcPts val="4886"/>
              </a:lnSpc>
              <a:buAutoNum type="arabicPeriod"/>
            </a:pPr>
            <a:r>
              <a:rPr lang="en-US" sz="349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Data Splitting – Divided the dataset into 80% training and 20% testing subsets to evaluate model generalization effectively.</a:t>
            </a:r>
          </a:p>
          <a:p>
            <a:pPr algn="just">
              <a:lnSpc>
                <a:spcPts val="3626"/>
              </a:lnSpc>
            </a:pPr>
            <a:endParaRPr lang="en-US" sz="3490">
              <a:solidFill>
                <a:srgbClr val="0C3571"/>
              </a:solidFill>
              <a:latin typeface="Cloud"/>
              <a:ea typeface="Cloud"/>
              <a:cs typeface="Cloud"/>
              <a:sym typeface="Cloud"/>
            </a:endParaRPr>
          </a:p>
          <a:p>
            <a:pPr algn="just">
              <a:lnSpc>
                <a:spcPts val="3626"/>
              </a:lnSpc>
            </a:pPr>
            <a:endParaRPr lang="en-US" sz="3490">
              <a:solidFill>
                <a:srgbClr val="0C3571"/>
              </a:solidFill>
              <a:latin typeface="Cloud"/>
              <a:ea typeface="Cloud"/>
              <a:cs typeface="Cloud"/>
              <a:sym typeface="Cloud"/>
            </a:endParaRPr>
          </a:p>
          <a:p>
            <a:pPr algn="just">
              <a:lnSpc>
                <a:spcPts val="3626"/>
              </a:lnSpc>
            </a:pPr>
            <a:endParaRPr lang="en-US" sz="3490">
              <a:solidFill>
                <a:srgbClr val="0C3571"/>
              </a:solidFill>
              <a:latin typeface="Cloud"/>
              <a:ea typeface="Cloud"/>
              <a:cs typeface="Cloud"/>
              <a:sym typeface="Cloud"/>
            </a:endParaRPr>
          </a:p>
          <a:p>
            <a:pPr algn="just">
              <a:lnSpc>
                <a:spcPts val="3626"/>
              </a:lnSpc>
            </a:pPr>
            <a:endParaRPr lang="en-US" sz="3490">
              <a:solidFill>
                <a:srgbClr val="0C3571"/>
              </a:solidFill>
              <a:latin typeface="Cloud"/>
              <a:ea typeface="Cloud"/>
              <a:cs typeface="Cloud"/>
              <a:sym typeface="Clou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24614" y="6515100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1924574" y="-357188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002168">
            <a:off x="-1222246" y="-3356253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7488824">
            <a:off x="-221065" y="7727724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687663" y="2581910"/>
            <a:ext cx="14912674" cy="5990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5</a:t>
            </a:r>
            <a:r>
              <a:rPr lang="en-US" sz="3399" b="1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. </a:t>
            </a: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Model Training – Trained three supervised machine learning models:</a:t>
            </a:r>
          </a:p>
          <a:p>
            <a:pPr marL="1468116" lvl="2" indent="-489372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Logistic Regression – for baseline prediction and interpretability.</a:t>
            </a:r>
          </a:p>
          <a:p>
            <a:pPr marL="1468116" lvl="2" indent="-489372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Random Forest – to leverage ensemble learning and handle feature interactions.</a:t>
            </a:r>
          </a:p>
          <a:p>
            <a:pPr marL="1468116" lvl="2" indent="-489372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Gradient Boosting – for improved accuracy through sequential error correction.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6</a:t>
            </a:r>
            <a:r>
              <a:rPr lang="en-US" sz="3399" b="1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. </a:t>
            </a: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Model Evaluation – Compared the models using metrics like Accuracy,    Precision, Recall, F1-score, and ROC-AUC to identify the best performing algorithm.</a:t>
            </a:r>
          </a:p>
          <a:p>
            <a:pPr algn="just">
              <a:lnSpc>
                <a:spcPts val="4759"/>
              </a:lnSpc>
            </a:pPr>
            <a:endParaRPr lang="en-US" sz="3399">
              <a:solidFill>
                <a:srgbClr val="0C3571"/>
              </a:solidFill>
              <a:latin typeface="Cloud"/>
              <a:ea typeface="Cloud"/>
              <a:cs typeface="Cloud"/>
              <a:sym typeface="Clou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24614" y="6515100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1924574" y="-357188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002168">
            <a:off x="-1222246" y="-3356253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7488824">
            <a:off x="-221065" y="7727724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269912" y="1044962"/>
            <a:ext cx="13748175" cy="1177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67"/>
              </a:lnSpc>
            </a:pPr>
            <a:r>
              <a:rPr lang="en-US" sz="6905" b="1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MODELS AND RESULTS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7497" y="2522662"/>
            <a:ext cx="17253005" cy="6529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We trained and tested three supervised machine learning models to predict Netflix user churn: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Logistic Regression – Achieved an accuracy of 88.40% and ROC-AUC of 0.8839.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 It provided a simple and interpretable baseline model but was slightly less effective in capturing complex relationships.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Random Forest – Achieved an accuracy of 96.90% and ROC-AUC of 0.9690.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 This ensemble method significantly improved performance by reducing overfitting and improving generalization.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Gradient Boosting – Achieved an outstanding accuracy of 99.10% and ROC-AUC of 0.9910.It consistently outperformed other models by iteratively correcting errors from previous learners and delivering the best predictive power.</a:t>
            </a:r>
          </a:p>
          <a:p>
            <a:pPr algn="just">
              <a:lnSpc>
                <a:spcPts val="4759"/>
              </a:lnSpc>
            </a:pPr>
            <a:endParaRPr lang="en-US" sz="3000">
              <a:solidFill>
                <a:srgbClr val="0C3571"/>
              </a:solidFill>
              <a:latin typeface="Cloud"/>
              <a:ea typeface="Cloud"/>
              <a:cs typeface="Cloud"/>
              <a:sym typeface="Cloud"/>
            </a:endParaRPr>
          </a:p>
          <a:p>
            <a:pPr algn="just">
              <a:lnSpc>
                <a:spcPts val="4759"/>
              </a:lnSpc>
            </a:pPr>
            <a:endParaRPr lang="en-US" sz="3000">
              <a:solidFill>
                <a:srgbClr val="0C3571"/>
              </a:solidFill>
              <a:latin typeface="Cloud"/>
              <a:ea typeface="Cloud"/>
              <a:cs typeface="Cloud"/>
              <a:sym typeface="Clou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24614" y="6515100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1924574" y="-357188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002168">
            <a:off x="-1222246" y="-3356253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7488824">
            <a:off x="-221065" y="7727724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771366" y="3205689"/>
            <a:ext cx="15091892" cy="2990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endParaRPr/>
          </a:p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Conclusion</a:t>
            </a: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: Among the three, Gradient Boosting delivered the highest accuracy and overall performance, making it the most effective model for predicting Netflix user churn.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C3571"/>
              </a:solidFill>
              <a:latin typeface="Cloud"/>
              <a:ea typeface="Cloud"/>
              <a:cs typeface="Cloud"/>
              <a:sym typeface="Clou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24614" y="6515100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1924574" y="-357188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002168">
            <a:off x="-1222246" y="-3356253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7488824">
            <a:off x="-221065" y="7727724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430285" y="1137038"/>
            <a:ext cx="10890353" cy="101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67"/>
              </a:lnSpc>
            </a:pPr>
            <a:r>
              <a:rPr lang="en-US" sz="5905" b="1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TOOLS AND LIBRARIES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14450" y="3267710"/>
            <a:ext cx="16197887" cy="5990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We utilized the following tools and Python libraries throughout the project:</a:t>
            </a:r>
          </a:p>
          <a:p>
            <a:pPr marL="734058" lvl="1" indent="-367029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Python – The primary programming language used for implementation and experimentation.</a:t>
            </a:r>
          </a:p>
          <a:p>
            <a:pPr marL="734058" lvl="1" indent="-367029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Pandas – For efficient data manipulation, preprocessing, and handling missing values.</a:t>
            </a:r>
          </a:p>
          <a:p>
            <a:pPr marL="734058" lvl="1" indent="-367029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NumPy – Used for mathematical operations and managing large numerical datasets.</a:t>
            </a:r>
          </a:p>
          <a:p>
            <a:pPr marL="734058" lvl="1" indent="-367029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Matplotlib &amp; Seaborn – For exploratory data analysis (EDA) and creating clear, insightful visualizations.</a:t>
            </a:r>
          </a:p>
          <a:p>
            <a:pPr algn="just">
              <a:lnSpc>
                <a:spcPts val="4759"/>
              </a:lnSpc>
            </a:pPr>
            <a:endParaRPr lang="en-US" sz="3399">
              <a:solidFill>
                <a:srgbClr val="0C3571"/>
              </a:solidFill>
              <a:latin typeface="Cloud"/>
              <a:ea typeface="Cloud"/>
              <a:cs typeface="Cloud"/>
              <a:sym typeface="Clou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24614" y="6515100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1924574" y="-357188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002168">
            <a:off x="-1222246" y="-3356253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7488824">
            <a:off x="-221065" y="7727724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902315" y="2635415"/>
            <a:ext cx="13698411" cy="4190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8" lvl="1" indent="-367029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Scikit-learn – For model building, training, evaluation, and performance comparison of Logistic Regression, Random Forest, and Gradient Boosting.</a:t>
            </a:r>
          </a:p>
          <a:p>
            <a:pPr marL="734058" lvl="1" indent="-367029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Google Colab – Used as an interactive development environment for coding, visualization, and documenting the workflow effectively.</a:t>
            </a:r>
          </a:p>
          <a:p>
            <a:pPr algn="just">
              <a:lnSpc>
                <a:spcPts val="4759"/>
              </a:lnSpc>
            </a:pPr>
            <a:endParaRPr lang="en-US" sz="3399">
              <a:solidFill>
                <a:srgbClr val="0C3571"/>
              </a:solidFill>
              <a:latin typeface="Cloud"/>
              <a:ea typeface="Cloud"/>
              <a:cs typeface="Cloud"/>
              <a:sym typeface="Clou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1924574" y="-357188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 flipH="1" flipV="1">
            <a:off x="-505413" y="6322768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8" y="0"/>
                </a:lnTo>
                <a:lnTo>
                  <a:pt x="7059478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632984" y="637296"/>
            <a:ext cx="5873216" cy="13684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6273" y="2933266"/>
            <a:ext cx="17131690" cy="6721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59"/>
              </a:lnSpc>
            </a:pPr>
            <a:r>
              <a:rPr lang="en-US" sz="31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project successfully predicted Netflix customer churn using multiple machine learning algorithms.</a:t>
            </a:r>
          </a:p>
          <a:p>
            <a:pPr algn="just">
              <a:lnSpc>
                <a:spcPts val="4459"/>
              </a:lnSpc>
            </a:pPr>
            <a:r>
              <a:rPr lang="en-US" sz="31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Through comparative analysis, it was observed that:</a:t>
            </a:r>
          </a:p>
          <a:p>
            <a:pPr marL="687646" lvl="1" indent="-343823" algn="just">
              <a:lnSpc>
                <a:spcPts val="4459"/>
              </a:lnSpc>
              <a:buFont typeface="Arial"/>
              <a:buChar char="•"/>
            </a:pPr>
            <a:r>
              <a:rPr lang="en-US" sz="31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Gradient Boosting emerged as the best-performing model, achieving the highest accuracy and reliability among all models.</a:t>
            </a:r>
          </a:p>
          <a:p>
            <a:pPr marL="687646" lvl="1" indent="-343823" algn="just">
              <a:lnSpc>
                <a:spcPts val="4459"/>
              </a:lnSpc>
              <a:buFont typeface="Arial"/>
              <a:buChar char="•"/>
            </a:pPr>
            <a:r>
              <a:rPr lang="en-US" sz="31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model effectively identified users at high risk of unsubscribing, enabling data-driven retention strategies.</a:t>
            </a:r>
          </a:p>
          <a:p>
            <a:pPr marL="687646" lvl="1" indent="-343823" algn="just">
              <a:lnSpc>
                <a:spcPts val="4459"/>
              </a:lnSpc>
              <a:buFont typeface="Arial"/>
              <a:buChar char="•"/>
            </a:pPr>
            <a:r>
              <a:rPr lang="en-US" sz="31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By recognizing potential churners early, Netflix can implement targeted actions such as personalized recommendations, promotional offers, and loyalty programs to enhance customer engagement and satisfaction.</a:t>
            </a:r>
          </a:p>
          <a:p>
            <a:pPr algn="just">
              <a:lnSpc>
                <a:spcPts val="4459"/>
              </a:lnSpc>
            </a:pPr>
            <a:endParaRPr lang="en-US" sz="3185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459"/>
              </a:lnSpc>
            </a:pPr>
            <a:endParaRPr lang="en-US" sz="3185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24614" y="6515100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1924574" y="-357188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002168">
            <a:off x="-1222246" y="-3356253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7488824">
            <a:off x="-221065" y="7727724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634754" y="3963894"/>
            <a:ext cx="13018493" cy="2130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89"/>
              </a:lnSpc>
            </a:pPr>
            <a:r>
              <a:rPr lang="en-US" sz="12492" b="1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655</Words>
  <Application>Microsoft Office PowerPoint</Application>
  <PresentationFormat>Custom</PresentationFormat>
  <Paragraphs>49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Canva Sans Bold</vt:lpstr>
      <vt:lpstr>Cloud Bold</vt:lpstr>
      <vt:lpstr>Calibri</vt:lpstr>
      <vt:lpstr>Canva Sans</vt:lpstr>
      <vt:lpstr>Anantason Bold</vt:lpstr>
      <vt:lpstr>Arial</vt:lpstr>
      <vt:lpstr>Cloud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Modern Futuristic Presentation</dc:title>
  <dc:creator>Prashant Radder</dc:creator>
  <cp:lastModifiedBy>Prashant Radder</cp:lastModifiedBy>
  <cp:revision>2</cp:revision>
  <dcterms:created xsi:type="dcterms:W3CDTF">2006-08-16T00:00:00Z</dcterms:created>
  <dcterms:modified xsi:type="dcterms:W3CDTF">2025-10-14T15:42:48Z</dcterms:modified>
  <dc:identifier>DAG1vY91Xwc</dc:identifier>
</cp:coreProperties>
</file>